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B2E59"/>
                </a:solidFill>
                <a:latin typeface="Times New Roman"/>
              </a:defRPr>
            </a:pPr>
            <a:r>
              <a:t>AI-ML VIRTUAL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9966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32323"/>
                </a:solidFill>
                <a:latin typeface="Times New Roman"/>
              </a:defRPr>
            </a:pPr>
            <a:r>
              <a:t>Mohd Muzammil Akhtar</a:t>
            </a:r>
          </a:p>
          <a:p>
            <a:pPr algn="ctr">
              <a:defRPr sz="1600" b="0">
                <a:solidFill>
                  <a:srgbClr val="232323"/>
                </a:solidFill>
                <a:latin typeface="Times New Roman"/>
              </a:defRPr>
            </a:pPr>
            <a:r>
              <a:t>Roll No.: 2410031716</a:t>
            </a:r>
          </a:p>
          <a:p>
            <a:pPr algn="ctr">
              <a:defRPr sz="1600" b="0">
                <a:solidFill>
                  <a:srgbClr val="232323"/>
                </a:solidFill>
                <a:latin typeface="Times New Roman"/>
              </a:defRPr>
            </a:pPr>
            <a:r>
              <a:t>3rd Year, 3CSE25 | IILM University, Greater Noida</a:t>
            </a:r>
          </a:p>
        </p:txBody>
      </p:sp>
      <p:sp>
        <p:nvSpPr>
          <p:cNvPr id="5" name="Rectangle 4"/>
          <p:cNvSpPr/>
          <p:nvPr/>
        </p:nvSpPr>
        <p:spPr>
          <a:xfrm>
            <a:off x="2834640" y="4251960"/>
            <a:ext cx="6492240" cy="54864"/>
          </a:xfrm>
          <a:prstGeom prst="rect">
            <a:avLst/>
          </a:prstGeom>
          <a:solidFill>
            <a:srgbClr val="18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2E59"/>
                </a:solidFill>
                <a:latin typeface="Times New Roman"/>
              </a:defRPr>
            </a:pPr>
            <a:r>
              <a:t>8 Weeks (June – August 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2E59"/>
                </a:solidFill>
                <a:latin typeface="Times New Roman"/>
              </a:defRPr>
            </a:pPr>
            <a:r>
              <a:t>Internship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91919"/>
                </a:solidFill>
                <a:latin typeface="Times New Roman"/>
              </a:defRPr>
            </a:pPr>
            <a:r>
              <a:t>AICTE–EduSkills Virtual Internship focused on Artificial Intelligence and Machine Learning.</a:t>
            </a:r>
          </a:p>
          <a:p>
            <a:pPr>
              <a:spcAft>
                <a:spcPts val="1200"/>
              </a:spcAft>
              <a:defRPr sz="1900">
                <a:solidFill>
                  <a:srgbClr val="191919"/>
                </a:solidFill>
                <a:latin typeface="Times New Roman"/>
              </a:defRPr>
            </a:pPr>
            <a:r>
              <a:t>Duration recorded on the certificate: 8 weeks, June–August 2026.</a:t>
            </a:r>
          </a:p>
          <a:p>
            <a:pPr>
              <a:spcAft>
                <a:spcPts val="1200"/>
              </a:spcAft>
              <a:defRPr sz="1900">
                <a:solidFill>
                  <a:srgbClr val="191919"/>
                </a:solidFill>
                <a:latin typeface="Times New Roman"/>
              </a:defRPr>
            </a:pPr>
            <a:r>
              <a:t>Learning emphasis: data preparation, ML workflow, model building, evaluation and responsible AI.</a:t>
            </a:r>
          </a:p>
          <a:p>
            <a:pPr>
              <a:spcAft>
                <a:spcPts val="1200"/>
              </a:spcAft>
              <a:defRPr sz="1900">
                <a:solidFill>
                  <a:srgbClr val="191919"/>
                </a:solidFill>
                <a:latin typeface="Times New Roman"/>
              </a:defRPr>
            </a:pPr>
            <a:r>
              <a:t>Industry-supported learning ecosystem with India Edu Program and Google for Developers support indicated on the certificate.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47104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Times New Roman"/>
              </a:defRPr>
            </a:pPr>
            <a:r>
              <a:t>Mohd Muzammil Akhtar | 2410031716 | AI-ML Virtual Internship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2E59"/>
                </a:solidFill>
                <a:latin typeface="Times New Roman"/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Understand AI and ML fundamentals and their practical applications.</a:t>
            </a:r>
          </a:p>
          <a:p>
            <a:pPr>
              <a:spcAft>
                <a:spcPts val="12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Learn the end-to-end machine-learning lifecycle.</a:t>
            </a:r>
          </a:p>
          <a:p>
            <a:pPr>
              <a:spcAft>
                <a:spcPts val="12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Practice data preprocessing, feature preparation and exploratory analysis.</a:t>
            </a:r>
          </a:p>
          <a:p>
            <a:pPr>
              <a:spcAft>
                <a:spcPts val="12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Understand model selection, training, validation and evaluation.</a:t>
            </a:r>
          </a:p>
          <a:p>
            <a:pPr>
              <a:spcAft>
                <a:spcPts val="12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Recognize overfitting, underfitting, data leakage and responsible-AI concerns.</a:t>
            </a:r>
          </a:p>
          <a:p>
            <a:pPr>
              <a:spcAft>
                <a:spcPts val="12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Improve technical documentation and presentation skills.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47104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Times New Roman"/>
              </a:defRPr>
            </a:pPr>
            <a:r>
              <a:t>Mohd Muzammil Akhtar | 2410031716 | AI-ML Virtual Internship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2E59"/>
                </a:solidFill>
                <a:latin typeface="Times New Roman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91919"/>
                </a:solidFill>
                <a:latin typeface="Times New Roman"/>
              </a:defRPr>
            </a:pPr>
            <a:r>
              <a:t>Real-world datasets contain useful patterns but may also contain missing, inconsistent or noisy information.</a:t>
            </a:r>
          </a:p>
          <a:p>
            <a:pPr>
              <a:spcAft>
                <a:spcPts val="1200"/>
              </a:spcAft>
              <a:defRPr sz="1900">
                <a:solidFill>
                  <a:srgbClr val="191919"/>
                </a:solidFill>
                <a:latin typeface="Times New Roman"/>
              </a:defRPr>
            </a:pPr>
            <a:r>
              <a:t>Manual analysis is difficult to scale when decisions depend on many variables.</a:t>
            </a:r>
          </a:p>
          <a:p>
            <a:pPr>
              <a:spcAft>
                <a:spcPts val="1200"/>
              </a:spcAft>
              <a:defRPr sz="1900">
                <a:solidFill>
                  <a:srgbClr val="191919"/>
                </a:solidFill>
                <a:latin typeface="Times New Roman"/>
              </a:defRPr>
            </a:pPr>
            <a:r>
              <a:t>An AI/ML workflow is needed to convert data into useful predictions or analytical insights.</a:t>
            </a:r>
          </a:p>
          <a:p>
            <a:pPr>
              <a:spcAft>
                <a:spcPts val="1200"/>
              </a:spcAft>
              <a:defRPr sz="1900">
                <a:solidFill>
                  <a:srgbClr val="191919"/>
                </a:solidFill>
                <a:latin typeface="Times New Roman"/>
              </a:defRPr>
            </a:pPr>
            <a:r>
              <a:t>The internship focused on learning how to build this workflow systematically and evaluate its reliability.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47104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Times New Roman"/>
              </a:defRPr>
            </a:pPr>
            <a:r>
              <a:t>Mohd Muzammil Akhtar | 2410031716 | AI-ML Virtual Internship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2E59"/>
                </a:solidFill>
                <a:latin typeface="Times New Roman"/>
              </a:defRPr>
            </a:pPr>
            <a:r>
              <a:t>Scope of the Internship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91919"/>
                </a:solidFill>
                <a:latin typeface="Times New Roman"/>
              </a:defRPr>
            </a:pPr>
            <a:r>
              <a:t>Problem understanding and target definition</a:t>
            </a:r>
          </a:p>
          <a:p>
            <a:pPr>
              <a:spcAft>
                <a:spcPts val="1200"/>
              </a:spcAft>
              <a:defRPr sz="2000">
                <a:solidFill>
                  <a:srgbClr val="191919"/>
                </a:solidFill>
                <a:latin typeface="Times New Roman"/>
              </a:defRPr>
            </a:pPr>
            <a:r>
              <a:t>Data inspection, cleaning and transformation</a:t>
            </a:r>
          </a:p>
          <a:p>
            <a:pPr>
              <a:spcAft>
                <a:spcPts val="1200"/>
              </a:spcAft>
              <a:defRPr sz="2000">
                <a:solidFill>
                  <a:srgbClr val="191919"/>
                </a:solidFill>
                <a:latin typeface="Times New Roman"/>
              </a:defRPr>
            </a:pPr>
            <a:r>
              <a:t>Exploratory data analysis and visualization</a:t>
            </a:r>
          </a:p>
          <a:p>
            <a:pPr>
              <a:spcAft>
                <a:spcPts val="1200"/>
              </a:spcAft>
              <a:defRPr sz="2000">
                <a:solidFill>
                  <a:srgbClr val="191919"/>
                </a:solidFill>
                <a:latin typeface="Times New Roman"/>
              </a:defRPr>
            </a:pPr>
            <a:r>
              <a:t>Feature preparation and model selection</a:t>
            </a:r>
          </a:p>
          <a:p>
            <a:pPr>
              <a:spcAft>
                <a:spcPts val="1200"/>
              </a:spcAft>
              <a:defRPr sz="2000">
                <a:solidFill>
                  <a:srgbClr val="191919"/>
                </a:solidFill>
                <a:latin typeface="Times New Roman"/>
              </a:defRPr>
            </a:pPr>
            <a:r>
              <a:t>Model training, validation and evaluation</a:t>
            </a:r>
          </a:p>
          <a:p>
            <a:pPr>
              <a:spcAft>
                <a:spcPts val="1200"/>
              </a:spcAft>
              <a:defRPr sz="2000">
                <a:solidFill>
                  <a:srgbClr val="191919"/>
                </a:solidFill>
                <a:latin typeface="Times New Roman"/>
              </a:defRPr>
            </a:pPr>
            <a:r>
              <a:t>Interpretation, documentation and responsible AI awareness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47104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Times New Roman"/>
              </a:defRPr>
            </a:pPr>
            <a:r>
              <a:t>Mohd Muzammil Akhtar | 2410031716 | AI-ML Virtual Internship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2E59"/>
                </a:solidFill>
                <a:latin typeface="Times New Roman"/>
              </a:defRPr>
            </a:pPr>
            <a:r>
              <a:t>Technologies and Tools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25880"/>
            <a:ext cx="507492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18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35607"/>
            <a:ext cx="4663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2E59"/>
                </a:solidFill>
                <a:latin typeface="Times New Roman"/>
              </a:defRPr>
            </a:pPr>
            <a:r>
              <a:t>Python</a:t>
            </a:r>
          </a:p>
          <a:p>
            <a:pPr>
              <a:defRPr sz="1300">
                <a:solidFill>
                  <a:srgbClr val="5A5A5A"/>
                </a:solidFill>
                <a:latin typeface="Times New Roman"/>
              </a:defRPr>
            </a:pPr>
            <a:r>
              <a:t>Programming and experimentation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507492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18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435607"/>
            <a:ext cx="4663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2E59"/>
                </a:solidFill>
                <a:latin typeface="Times New Roman"/>
              </a:defRPr>
            </a:pPr>
            <a:r>
              <a:t>NumPy</a:t>
            </a:r>
          </a:p>
          <a:p>
            <a:pPr>
              <a:defRPr sz="1300">
                <a:solidFill>
                  <a:srgbClr val="5A5A5A"/>
                </a:solidFill>
                <a:latin typeface="Times New Roman"/>
              </a:defRPr>
            </a:pPr>
            <a:r>
              <a:t>Numerical computing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60320"/>
            <a:ext cx="507492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18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70048"/>
            <a:ext cx="4663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2E59"/>
                </a:solidFill>
                <a:latin typeface="Times New Roman"/>
              </a:defRPr>
            </a:pPr>
            <a:r>
              <a:t>Pandas</a:t>
            </a:r>
          </a:p>
          <a:p>
            <a:pPr>
              <a:defRPr sz="1300">
                <a:solidFill>
                  <a:srgbClr val="5A5A5A"/>
                </a:solidFill>
                <a:latin typeface="Times New Roman"/>
              </a:defRPr>
            </a:pPr>
            <a:r>
              <a:t>Data manipulation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560320"/>
            <a:ext cx="507492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18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670048"/>
            <a:ext cx="4663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2E59"/>
                </a:solidFill>
                <a:latin typeface="Times New Roman"/>
              </a:defRPr>
            </a:pPr>
            <a:r>
              <a:t>Matplotlib</a:t>
            </a:r>
          </a:p>
          <a:p>
            <a:pPr>
              <a:defRPr sz="1300">
                <a:solidFill>
                  <a:srgbClr val="5A5A5A"/>
                </a:solidFill>
                <a:latin typeface="Times New Roman"/>
              </a:defRPr>
            </a:pPr>
            <a:r>
              <a:t>Visualization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94760"/>
            <a:ext cx="507492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18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04488"/>
            <a:ext cx="4663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2E59"/>
                </a:solidFill>
                <a:latin typeface="Times New Roman"/>
              </a:defRPr>
            </a:pPr>
            <a:r>
              <a:t>Scikit-learn</a:t>
            </a:r>
          </a:p>
          <a:p>
            <a:pPr>
              <a:defRPr sz="1300">
                <a:solidFill>
                  <a:srgbClr val="5A5A5A"/>
                </a:solidFill>
                <a:latin typeface="Times New Roman"/>
              </a:defRPr>
            </a:pPr>
            <a:r>
              <a:t>ML algorithms and evaluation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794760"/>
            <a:ext cx="507492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18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904488"/>
            <a:ext cx="4663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2E59"/>
                </a:solidFill>
                <a:latin typeface="Times New Roman"/>
              </a:defRPr>
            </a:pPr>
            <a:r>
              <a:t>Jupyter</a:t>
            </a:r>
          </a:p>
          <a:p>
            <a:pPr>
              <a:defRPr sz="1300">
                <a:solidFill>
                  <a:srgbClr val="5A5A5A"/>
                </a:solidFill>
                <a:latin typeface="Times New Roman"/>
              </a:defRPr>
            </a:pPr>
            <a:r>
              <a:t>Interactive notebooks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029200"/>
            <a:ext cx="507492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18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38928"/>
            <a:ext cx="4663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2E59"/>
                </a:solidFill>
                <a:latin typeface="Times New Roman"/>
              </a:defRPr>
            </a:pPr>
            <a:r>
              <a:t>Git concepts</a:t>
            </a:r>
          </a:p>
          <a:p>
            <a:pPr>
              <a:defRPr sz="1300">
                <a:solidFill>
                  <a:srgbClr val="5A5A5A"/>
                </a:solidFill>
                <a:latin typeface="Times New Roman"/>
              </a:defRPr>
            </a:pPr>
            <a:r>
              <a:t>Version control and reproducibility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Times New Roman"/>
              </a:defRPr>
            </a:pPr>
            <a:r>
              <a:t>Mohd Muzammil Akhtar | 2410031716 | AI-ML Virtual Internship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2E59"/>
                </a:solidFill>
                <a:latin typeface="Times New Roman"/>
              </a:defRPr>
            </a:pPr>
            <a:r>
              <a:t>AI/ML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423160"/>
            <a:ext cx="118872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18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1518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B2E59"/>
                </a:solidFill>
                <a:latin typeface="Times New Roman"/>
              </a:defRPr>
            </a:pPr>
            <a: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2596896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5DA0"/>
                </a:solidFill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47672" y="2423160"/>
            <a:ext cx="118872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18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93391" y="261518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B2E59"/>
                </a:solidFill>
                <a:latin typeface="Times New Roman"/>
              </a:defRPr>
            </a:pPr>
            <a: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6391" y="2596896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5DA0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2423160"/>
            <a:ext cx="118872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18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38144" y="261518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B2E59"/>
                </a:solidFill>
                <a:latin typeface="Times New Roman"/>
              </a:defRPr>
            </a:pPr>
            <a:r>
              <a:t>Preprocess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2596896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5DA0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37176" y="2423160"/>
            <a:ext cx="118872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18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82896" y="261518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B2E59"/>
                </a:solidFill>
                <a:latin typeface="Times New Roman"/>
              </a:defRPr>
            </a:pPr>
            <a:r>
              <a:t>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25896" y="2596896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5DA0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423160"/>
            <a:ext cx="118872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18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261518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B2E59"/>
                </a:solidFill>
                <a:latin typeface="Times New Roman"/>
              </a:defRPr>
            </a:pPr>
            <a:r>
              <a:t>Train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0648" y="2596896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5DA0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80" y="2423160"/>
            <a:ext cx="118872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18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261518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B2E59"/>
                </a:solidFill>
                <a:latin typeface="Times New Roman"/>
              </a:defRPr>
            </a:pPr>
            <a: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2596896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5DA0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71432" y="2423160"/>
            <a:ext cx="118872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18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17152" y="261518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B2E59"/>
                </a:solidFill>
                <a:latin typeface="Times New Roman"/>
              </a:defRPr>
            </a:pPr>
            <a:r>
              <a:t>Evaluate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60152" y="2596896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5DA0"/>
                </a:solidFill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16184" y="2423160"/>
            <a:ext cx="118872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18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61904" y="261518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B2E59"/>
                </a:solidFill>
                <a:latin typeface="Times New Roman"/>
              </a:defRPr>
            </a:pPr>
            <a:r>
              <a:t>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77639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91919"/>
                </a:solidFill>
                <a:latin typeface="Times New Roman"/>
              </a:defRPr>
            </a:pPr>
            <a:r>
              <a:t>Data quality and evaluation are essential parts of the pipeline, not optional final steps.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47104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Times New Roman"/>
              </a:defRPr>
            </a:pPr>
            <a:r>
              <a:t>Mohd Muzammil Akhtar | 2410031716 | AI-ML Virtual Internship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2E59"/>
                </a:solidFill>
                <a:latin typeface="Times New Roman"/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91919"/>
                </a:solidFill>
                <a:latin typeface="Times New Roman"/>
              </a:defRPr>
            </a:pPr>
            <a:r>
              <a:t>1. Define the problem and success criteria.</a:t>
            </a:r>
          </a:p>
          <a:p>
            <a:pPr>
              <a:spcAft>
                <a:spcPts val="1200"/>
              </a:spcAft>
              <a:defRPr sz="1700">
                <a:solidFill>
                  <a:srgbClr val="191919"/>
                </a:solidFill>
                <a:latin typeface="Times New Roman"/>
              </a:defRPr>
            </a:pPr>
            <a:r>
              <a:t>2. Understand the dataset and identify quality issues.</a:t>
            </a:r>
          </a:p>
          <a:p>
            <a:pPr>
              <a:spcAft>
                <a:spcPts val="1200"/>
              </a:spcAft>
              <a:defRPr sz="1700">
                <a:solidFill>
                  <a:srgbClr val="191919"/>
                </a:solidFill>
                <a:latin typeface="Times New Roman"/>
              </a:defRPr>
            </a:pPr>
            <a:r>
              <a:t>3. Clean and transform the data.</a:t>
            </a:r>
          </a:p>
          <a:p>
            <a:pPr>
              <a:spcAft>
                <a:spcPts val="1200"/>
              </a:spcAft>
              <a:defRPr sz="1700">
                <a:solidFill>
                  <a:srgbClr val="191919"/>
                </a:solidFill>
                <a:latin typeface="Times New Roman"/>
              </a:defRPr>
            </a:pPr>
            <a:r>
              <a:t>4. Explore patterns using statistics and visualizations.</a:t>
            </a:r>
          </a:p>
          <a:p>
            <a:pPr>
              <a:spcAft>
                <a:spcPts val="1200"/>
              </a:spcAft>
              <a:defRPr sz="1700">
                <a:solidFill>
                  <a:srgbClr val="191919"/>
                </a:solidFill>
                <a:latin typeface="Times New Roman"/>
              </a:defRPr>
            </a:pPr>
            <a:r>
              <a:t>5. Prepare features and split data appropriately.</a:t>
            </a:r>
          </a:p>
          <a:p>
            <a:pPr>
              <a:spcAft>
                <a:spcPts val="1200"/>
              </a:spcAft>
              <a:defRPr sz="1700">
                <a:solidFill>
                  <a:srgbClr val="191919"/>
                </a:solidFill>
                <a:latin typeface="Times New Roman"/>
              </a:defRPr>
            </a:pPr>
            <a:r>
              <a:t>6. Train baseline and candidate models.</a:t>
            </a:r>
          </a:p>
          <a:p>
            <a:pPr>
              <a:spcAft>
                <a:spcPts val="1200"/>
              </a:spcAft>
              <a:defRPr sz="1700">
                <a:solidFill>
                  <a:srgbClr val="191919"/>
                </a:solidFill>
                <a:latin typeface="Times New Roman"/>
              </a:defRPr>
            </a:pPr>
            <a:r>
              <a:t>7. Validate and evaluate with suitable metrics.</a:t>
            </a:r>
          </a:p>
          <a:p>
            <a:pPr>
              <a:spcAft>
                <a:spcPts val="1200"/>
              </a:spcAft>
              <a:defRPr sz="1700">
                <a:solidFill>
                  <a:srgbClr val="191919"/>
                </a:solidFill>
                <a:latin typeface="Times New Roman"/>
              </a:defRPr>
            </a:pPr>
            <a:r>
              <a:t>8. Interpret results, document limitations and communicate findings.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47104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Times New Roman"/>
              </a:defRPr>
            </a:pPr>
            <a:r>
              <a:t>Mohd Muzammil Akhtar | 2410031716 | AI-ML Virtual Internship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2E59"/>
                </a:solidFill>
                <a:latin typeface="Times New Roman"/>
              </a:defRPr>
            </a:pPr>
            <a:r>
              <a:t>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91919"/>
                </a:solidFill>
                <a:latin typeface="Times New Roman"/>
              </a:defRPr>
            </a:pPr>
            <a:r>
              <a:t>Classification: accuracy, precision, recall, F1-score and confusion matrix.</a:t>
            </a:r>
          </a:p>
          <a:p>
            <a:pPr>
              <a:spcAft>
                <a:spcPts val="1200"/>
              </a:spcAft>
              <a:defRPr sz="1900">
                <a:solidFill>
                  <a:srgbClr val="191919"/>
                </a:solidFill>
                <a:latin typeface="Times New Roman"/>
              </a:defRPr>
            </a:pPr>
            <a:r>
              <a:t>Regression: MAE, MSE and RMSE.</a:t>
            </a:r>
          </a:p>
          <a:p>
            <a:pPr>
              <a:spcAft>
                <a:spcPts val="1200"/>
              </a:spcAft>
              <a:defRPr sz="1900">
                <a:solidFill>
                  <a:srgbClr val="191919"/>
                </a:solidFill>
                <a:latin typeface="Times New Roman"/>
              </a:defRPr>
            </a:pPr>
            <a:r>
              <a:t>Use unseen test data for an honest final performance estimate.</a:t>
            </a:r>
          </a:p>
          <a:p>
            <a:pPr>
              <a:spcAft>
                <a:spcPts val="1200"/>
              </a:spcAft>
              <a:defRPr sz="1900">
                <a:solidFill>
                  <a:srgbClr val="191919"/>
                </a:solidFill>
                <a:latin typeface="Times New Roman"/>
              </a:defRPr>
            </a:pPr>
            <a:r>
              <a:t>Compare training and validation performance to detect overfitting or underfitting.</a:t>
            </a:r>
          </a:p>
          <a:p>
            <a:pPr>
              <a:spcAft>
                <a:spcPts val="1200"/>
              </a:spcAft>
              <a:defRPr sz="1900">
                <a:solidFill>
                  <a:srgbClr val="191919"/>
                </a:solidFill>
                <a:latin typeface="Times New Roman"/>
              </a:defRPr>
            </a:pPr>
            <a:r>
              <a:t>Select metrics according to the practical cost of different errors.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47104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Times New Roman"/>
              </a:defRPr>
            </a:pPr>
            <a:r>
              <a:t>Mohd Muzammil Akhtar | 2410031716 | AI-ML Virtual Internship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2E59"/>
                </a:solidFill>
                <a:latin typeface="Times New Roman"/>
              </a:defRPr>
            </a:pPr>
            <a:r>
              <a:t>Responsible AI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91919"/>
                </a:solidFill>
                <a:latin typeface="Times New Roman"/>
              </a:defRPr>
            </a:pPr>
            <a:r>
              <a:t>Protect privacy and use data only for appropriate purposes.</a:t>
            </a:r>
          </a:p>
          <a:p>
            <a:pPr>
              <a:spcAft>
                <a:spcPts val="1200"/>
              </a:spcAft>
              <a:defRPr sz="1900">
                <a:solidFill>
                  <a:srgbClr val="191919"/>
                </a:solidFill>
                <a:latin typeface="Times New Roman"/>
              </a:defRPr>
            </a:pPr>
            <a:r>
              <a:t>Check for bias and unfair patterns in data and model outputs.</a:t>
            </a:r>
          </a:p>
          <a:p>
            <a:pPr>
              <a:spcAft>
                <a:spcPts val="1200"/>
              </a:spcAft>
              <a:defRPr sz="1900">
                <a:solidFill>
                  <a:srgbClr val="191919"/>
                </a:solidFill>
                <a:latin typeface="Times New Roman"/>
              </a:defRPr>
            </a:pPr>
            <a:r>
              <a:t>Avoid data leakage and unrealistic evaluation.</a:t>
            </a:r>
          </a:p>
          <a:p>
            <a:pPr>
              <a:spcAft>
                <a:spcPts val="1200"/>
              </a:spcAft>
              <a:defRPr sz="1900">
                <a:solidFill>
                  <a:srgbClr val="191919"/>
                </a:solidFill>
                <a:latin typeface="Times New Roman"/>
              </a:defRPr>
            </a:pPr>
            <a:r>
              <a:t>Explain model limitations instead of treating predictions as guaranteed facts.</a:t>
            </a:r>
          </a:p>
          <a:p>
            <a:pPr>
              <a:spcAft>
                <a:spcPts val="1200"/>
              </a:spcAft>
              <a:defRPr sz="1900">
                <a:solidFill>
                  <a:srgbClr val="191919"/>
                </a:solidFill>
                <a:latin typeface="Times New Roman"/>
              </a:defRPr>
            </a:pPr>
            <a:r>
              <a:t>Monitor performance when data or real-world conditions change.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47104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Times New Roman"/>
              </a:defRPr>
            </a:pPr>
            <a:r>
              <a:t>Mohd Muzammil Akhtar | 2410031716 | AI-ML Virtual Internship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2E59"/>
                </a:solidFill>
                <a:latin typeface="Times New Roman"/>
              </a:defRPr>
            </a:pPr>
            <a: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91919"/>
                </a:solidFill>
                <a:latin typeface="Times New Roman"/>
              </a:defRPr>
            </a:pPr>
            <a:r>
              <a:t>Stronger understanding of the complete AI/ML workflow.</a:t>
            </a:r>
          </a:p>
          <a:p>
            <a:pPr>
              <a:spcAft>
                <a:spcPts val="1200"/>
              </a:spcAft>
              <a:defRPr sz="1900">
                <a:solidFill>
                  <a:srgbClr val="191919"/>
                </a:solidFill>
                <a:latin typeface="Times New Roman"/>
              </a:defRPr>
            </a:pPr>
            <a:r>
              <a:t>Improved Python and data-analysis skills.</a:t>
            </a:r>
          </a:p>
          <a:p>
            <a:pPr>
              <a:spcAft>
                <a:spcPts val="1200"/>
              </a:spcAft>
              <a:defRPr sz="1900">
                <a:solidFill>
                  <a:srgbClr val="191919"/>
                </a:solidFill>
                <a:latin typeface="Times New Roman"/>
              </a:defRPr>
            </a:pPr>
            <a:r>
              <a:t>Better understanding of model training and evaluation.</a:t>
            </a:r>
          </a:p>
          <a:p>
            <a:pPr>
              <a:spcAft>
                <a:spcPts val="1200"/>
              </a:spcAft>
              <a:defRPr sz="1900">
                <a:solidFill>
                  <a:srgbClr val="191919"/>
                </a:solidFill>
                <a:latin typeface="Times New Roman"/>
              </a:defRPr>
            </a:pPr>
            <a:r>
              <a:t>Ability to explain common ML errors and limitations.</a:t>
            </a:r>
          </a:p>
          <a:p>
            <a:pPr>
              <a:spcAft>
                <a:spcPts val="1200"/>
              </a:spcAft>
              <a:defRPr sz="1900">
                <a:solidFill>
                  <a:srgbClr val="191919"/>
                </a:solidFill>
                <a:latin typeface="Times New Roman"/>
              </a:defRPr>
            </a:pPr>
            <a:r>
              <a:t>Improved documentation, problem-solving and presentation skills.</a:t>
            </a:r>
          </a:p>
          <a:p>
            <a:pPr>
              <a:spcAft>
                <a:spcPts val="1200"/>
              </a:spcAft>
              <a:defRPr sz="1900">
                <a:solidFill>
                  <a:srgbClr val="191919"/>
                </a:solidFill>
                <a:latin typeface="Times New Roman"/>
              </a:defRPr>
            </a:pPr>
            <a:r>
              <a:t>Foundation for future CSE projects involving AI and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47104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Times New Roman"/>
              </a:defRPr>
            </a:pPr>
            <a:r>
              <a:t>Mohd Muzammil Akhtar | 2410031716 | AI-ML Virtual Internship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2E59"/>
                </a:solidFill>
                <a:latin typeface="Times New Roman"/>
              </a:defRPr>
            </a:pPr>
            <a:r>
              <a:t>Internship Completion Certificate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47104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Times New Roman"/>
              </a:defRPr>
            </a:pPr>
            <a:r>
              <a:t>Mohd Muzammil Akhtar | 2410031716 | AI-ML Virtual Internship | 12</a:t>
            </a:r>
          </a:p>
        </p:txBody>
      </p:sp>
      <p:pic>
        <p:nvPicPr>
          <p:cNvPr id="6" name="Picture 5" descr="a_flat_clean_certificate_document_design_photog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143000"/>
            <a:ext cx="3610804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2E59"/>
                </a:solidFill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91919"/>
                </a:solidFill>
                <a:latin typeface="Times New Roman"/>
              </a:defRPr>
            </a:pPr>
            <a:r>
              <a:t>The AI-ML Virtual Internship provided a structured introduction to practical machine-learning workflows.</a:t>
            </a:r>
          </a:p>
          <a:p>
            <a:pPr>
              <a:spcAft>
                <a:spcPts val="1200"/>
              </a:spcAft>
              <a:defRPr sz="1900">
                <a:solidFill>
                  <a:srgbClr val="191919"/>
                </a:solidFill>
                <a:latin typeface="Times New Roman"/>
              </a:defRPr>
            </a:pPr>
            <a:r>
              <a:t>The most important learning was the complete process: problem → data → preprocessing → model → evaluation → interpretation.</a:t>
            </a:r>
          </a:p>
          <a:p>
            <a:pPr>
              <a:spcAft>
                <a:spcPts val="1200"/>
              </a:spcAft>
              <a:defRPr sz="1900">
                <a:solidFill>
                  <a:srgbClr val="191919"/>
                </a:solidFill>
                <a:latin typeface="Times New Roman"/>
              </a:defRPr>
            </a:pPr>
            <a:r>
              <a:t>The experience builds a useful foundation for future academic projects and advanced AI/ML study.</a:t>
            </a:r>
          </a:p>
          <a:p>
            <a:pPr>
              <a:spcAft>
                <a:spcPts val="1200"/>
              </a:spcAft>
              <a:defRPr sz="1900">
                <a:solidFill>
                  <a:srgbClr val="191919"/>
                </a:solidFill>
                <a:latin typeface="Times New Roman"/>
              </a:defRPr>
            </a:pPr>
            <a:r>
              <a:t>The internship certificate serves as the formal completion proof included with this report.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47104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Times New Roman"/>
              </a:defRPr>
            </a:pPr>
            <a:r>
              <a:t>Mohd Muzammil Akhtar | 2410031716 | AI-ML Virtual Internship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574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B2E59"/>
                </a:solidFill>
                <a:latin typeface="Times New Roman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10896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82828"/>
                </a:solidFill>
                <a:latin typeface="Times New Roman"/>
              </a:defRPr>
            </a:pPr>
            <a:r>
              <a:t>Mohd Muzammil Akhtar</a:t>
            </a:r>
          </a:p>
          <a:p>
            <a:pPr algn="ctr">
              <a:defRPr sz="1800" b="0">
                <a:solidFill>
                  <a:srgbClr val="282828"/>
                </a:solidFill>
                <a:latin typeface="Times New Roman"/>
              </a:defRPr>
            </a:pPr>
            <a:r>
              <a:t>Roll No.: 2410031716</a:t>
            </a:r>
          </a:p>
          <a:p>
            <a:pPr algn="ctr">
              <a:defRPr sz="1800" b="0">
                <a:solidFill>
                  <a:srgbClr val="282828"/>
                </a:solidFill>
                <a:latin typeface="Times New Roman"/>
              </a:defRPr>
            </a:pPr>
            <a:r>
              <a:t>3rd Year, 3CSE25 | IILM University, Greater Noida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47104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Times New Roman"/>
              </a:defRPr>
            </a:pPr>
            <a:r>
              <a:t>Mohd Muzammil Akhtar | 2410031716 | AI-ML Virtual Internship |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